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User Engagement Archetypes and Cross-Platform Integration on FriendFeed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9DCF5"/>
                </a:solidFill>
                <a:latin typeface="Calibri"/>
              </a:rPr>
              <a:t>Final presentation — Data Mining I (1DL360)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CF5"/>
                </a:solidFill>
                <a:latin typeface="Calibri"/>
              </a:rPr>
              <a:t>Elias Kassie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CF5"/>
                </a:solidFill>
                <a:latin typeface="Calibri"/>
              </a:rPr>
              <a:t>Data: FriendFeed v2, monitored 1 Aug – 30 Sep 2010 · 14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What I want to find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5"/>
                </a:solidFill>
                <a:latin typeface="Calibri"/>
              </a:rPr>
              <a:t>Two questions, stated without data-mining terms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7451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874519"/>
            <a:ext cx="4206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33B"/>
                </a:solidFill>
                <a:latin typeface="Cambria"/>
              </a:rPr>
              <a:t>Who are FriendFeed's users?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4754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Are there distinct types of users — automated broadcasters, conversationalists, casual users — based on how they publish, interact and connect?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475488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Why it matters: </a:t>
            </a:r>
            <a:r>
              <a:rPr sz="1500" b="0">
                <a:solidFill>
                  <a:srgbClr val="1A1A1A"/>
                </a:solidFill>
                <a:latin typeface="Calibri"/>
              </a:rPr>
              <a:t>Bot detection and moderation; feed curation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Method: </a:t>
            </a:r>
            <a:r>
              <a:rPr sz="1500" b="0">
                <a:solidFill>
                  <a:srgbClr val="1A1A1A"/>
                </a:solidFill>
                <a:latin typeface="Calibri"/>
              </a:rPr>
              <a:t>Clustering (k-means, validated with Ward)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87451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874519"/>
            <a:ext cx="4206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33B"/>
                </a:solidFill>
                <a:latin typeface="Cambria"/>
              </a:rPr>
              <a:t>Which services are used together?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754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Which external platforms (Twitter, blogs, Flickr, Digg, …) do users link together, beyond what their popularity alone would explain?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343400"/>
            <a:ext cx="475488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Why it matters: </a:t>
            </a:r>
            <a:r>
              <a:rPr sz="1500" b="0">
                <a:solidFill>
                  <a:srgbClr val="1A1A1A"/>
                </a:solidFill>
                <a:latin typeface="Calibri"/>
              </a:rPr>
              <a:t>Which integrations to prioritise; cross-platform marketing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Method: </a:t>
            </a:r>
            <a:r>
              <a:rPr sz="1500" b="0">
                <a:solidFill>
                  <a:srgbClr val="1A1A1A"/>
                </a:solidFill>
                <a:latin typeface="Calibri"/>
              </a:rPr>
              <a:t>Association rules (Apriori / FP-Growth)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Scope: done as a one-person project (group members withdrew). The planned sub-question on which content types trigger discussions was dropped; no text content is analysed (agreed with the teacher).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The data: 7.5 GB of raw FriendFeed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5"/>
                </a:solidFill>
                <a:latin typeface="Calibri"/>
              </a:rPr>
              <a:t>Seven files, no headers, three different separators — loaded with DuckDB (SQL), stored as Parquet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154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mbria"/>
              </a:rPr>
              <a:t>12.45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154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posts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64592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737360"/>
            <a:ext cx="3154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mbria"/>
              </a:rPr>
              <a:t>3.75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423160"/>
            <a:ext cx="3154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comments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64592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1737360"/>
            <a:ext cx="3154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mbria"/>
              </a:rPr>
              <a:t>0.80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2423160"/>
            <a:ext cx="3154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likes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3154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mbria"/>
              </a:rPr>
              <a:t>25.9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3154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follow relationships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320040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3291840"/>
            <a:ext cx="3154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mbria"/>
              </a:rPr>
              <a:t>651,870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977640"/>
            <a:ext cx="3154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accounts (606,918 users)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20040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3291840"/>
            <a:ext cx="3154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mbria"/>
              </a:rPr>
              <a:t>1.21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977640"/>
            <a:ext cx="3154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user–service links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106424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Study window: </a:t>
            </a:r>
            <a:r>
              <a:rPr sz="1500" b="0">
                <a:solidFill>
                  <a:srgbClr val="1A1A1A"/>
                </a:solidFill>
                <a:latin typeface="Calibri"/>
              </a:rPr>
              <a:t>1 Aug – 30 Sep 2010 for posts, comments, likes. Users, services and follows are snapshots from 15–16 Oct 2010.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Representations: </a:t>
            </a:r>
            <a:r>
              <a:rPr sz="1500" b="0">
                <a:solidFill>
                  <a:srgbClr val="1A1A1A"/>
                </a:solidFill>
                <a:latin typeface="Calibri"/>
              </a:rPr>
              <a:t>Q1 → a table with one row per user (aggregated features). Q2 → transactions: one basket of linked services per user.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Tools: </a:t>
            </a:r>
            <a:r>
              <a:rPr sz="1500" b="0">
                <a:solidFill>
                  <a:srgbClr val="1A1A1A"/>
                </a:solidFill>
                <a:latin typeface="Calibri"/>
              </a:rPr>
              <a:t>Python, DuckDB, pandas, scikit-learn, mlxtend, matplotlib.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Data quality issues found — and how they were handled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166360"/>
                <a:gridCol w="42976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 found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19,970 duplicate rows; 44,952 groups; missing description stored as text 'null'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Deduplicated; groups excluded; description → has_description flag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72 malformed lines ('|' inside names); 380,599 duplicate user–service rows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Skipped (0.005%); each user–service pair kept once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entries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GeoX/GeoY 100% empty; 13,282 posts dated before the window (incl. 1970-01-01)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Columns dropped; restricted to study window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comments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 columns, not 13 as in README; 130,995 before window; 217 orphans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Columns mapped from the data; window; orphans not counted as received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likes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822 duplicates; dates 2008 – Oct 2010; 17.4% orphans (98% of Oct likes)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Dedup (earliest); window → 540,332 likes, 0.1% orphans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subscriptions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Not in README; column order opposite to README; 1.95 M duplicate edges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Direction proven via famous accounts; duplicates removed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followingAugSept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Timestamps = crawl time (57% in week 1); 98% overlap with snapshot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Not used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Preprocessing: from events to one row per user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783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233B"/>
                </a:solidFill>
                <a:latin typeface="Cambria"/>
              </a:rPr>
              <a:t>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78308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Parsing, types, duplicates, malformed lines → Parquet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325880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9232" y="150876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057400"/>
            <a:ext cx="1783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233B"/>
                </a:solidFill>
                <a:latin typeface="Cambria"/>
              </a:rPr>
              <a:t>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560320"/>
            <a:ext cx="178308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Keep 1 Aug – 30 Sep 2010 so all activity covers the same period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325880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66944" y="150876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2057400"/>
            <a:ext cx="1783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233B"/>
                </a:solidFill>
                <a:latin typeface="Cambria"/>
              </a:rPr>
              <a:t>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2560320"/>
            <a:ext cx="178308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Individual users with ≥ 1 post: 201,335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775" y="1325880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34655" y="150876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5" y="2057400"/>
            <a:ext cx="1783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233B"/>
                </a:solidFill>
                <a:latin typeface="Cambria"/>
              </a:rPr>
              <a:t>Aggregate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5" y="2560320"/>
            <a:ext cx="178308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Per-user counts, shares, degrees; no activity →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9488" y="1325880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02367" y="150876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7" y="2057400"/>
            <a:ext cx="1783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233B"/>
                </a:solidFill>
                <a:latin typeface="Cambria"/>
              </a:rPr>
              <a:t>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7" y="2560320"/>
            <a:ext cx="178308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log(1 + x) on counts, merge correlated features, z-score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40233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463040"/>
                <a:gridCol w="53949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Captures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n_posts, n_sources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publishing volume; number of posting channels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pct_native, pct_image, pct_video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ratio, 0–1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share typed on FriendFeed vs automated; media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n_interaction (comments/likes given + received)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interaction with other people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n_comments_on_own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notes on own posts (half of all comments!)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n_followers, n_following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influence vs follow-spam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n_services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external platforms linked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Exploration 1: extremely skewed, zero-inflated features</a:t>
            </a:r>
          </a:p>
        </p:txBody>
      </p:sp>
      <p:pic>
        <p:nvPicPr>
          <p:cNvPr id="3" name="Picture 2" descr="01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38033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983480"/>
            <a:ext cx="1106424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</a:t>
            </a:r>
            <a:r>
              <a:rPr sz="1500" b="0">
                <a:solidFill>
                  <a:srgbClr val="1A1A1A"/>
                </a:solidFill>
                <a:latin typeface="Calibri"/>
              </a:rPr>
              <a:t>Median user: 10 posts, 19 followers — one account posted 166,965 times in two months (≈ 2,700 per day).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</a:t>
            </a:r>
            <a:r>
              <a:rPr sz="1500" b="0">
                <a:solidFill>
                  <a:srgbClr val="1A1A1A"/>
                </a:solidFill>
                <a:latin typeface="Calibri"/>
              </a:rPr>
              <a:t>~94% of users never comment on others, receive no comments and give no likes; 81% of posters only post.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</a:t>
            </a:r>
            <a:r>
              <a:rPr sz="1500" b="0">
                <a:solidFill>
                  <a:srgbClr val="1A1A1A"/>
                </a:solidFill>
                <a:latin typeface="Calibri"/>
              </a:rPr>
              <a:t>Euclidean distance squares differences → without log(1 + x) a handful of extreme accounts would dominate the clustering. Outliers are kept (they are the phenomenon of interest).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Exploration 2: correlated features would distort the distances</a:t>
            </a:r>
          </a:p>
        </p:txBody>
      </p:sp>
      <p:pic>
        <p:nvPicPr>
          <p:cNvPr id="3" name="Picture 2" descr="04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270171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234440"/>
            <a:ext cx="4937760" cy="5303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4233B"/>
                </a:solidFill>
                <a:latin typeface="Calibri"/>
              </a:rPr>
              <a:t>Spearman (rank-based) — robust to extreme values.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Four interaction features are strongly correlated: comments on others ↔ likes given 0.76, comments received ↔ likes received 0.72, …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PCA confirms it: PC1 (35% of variance) loads ≈ 0.43 on exactly these four — like the Maths + Physics example.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In Euclidean distance they give 'interaction' four votes → it dominated the first clustering (silhouette 0.67 for a trivial k = 2).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Fix: </a:t>
            </a:r>
            <a:r>
              <a:rPr sz="1500" b="0">
                <a:solidFill>
                  <a:srgbClr val="1A1A1A"/>
                </a:solidFill>
                <a:latin typeface="Calibri"/>
              </a:rPr>
              <a:t>merged into one constructed feature n_interaction. Followers ↔ following (0.62) kept separate: influence vs follow-spam.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Q1: choosing k with three independent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5"/>
                </a:solidFill>
                <a:latin typeface="Calibri"/>
              </a:rPr>
              <a:t>k-means on 10 features (log counts + shares), z-scored, Euclidean; 10 restarts per run</a:t>
            </a:r>
          </a:p>
        </p:txBody>
      </p:sp>
      <p:pic>
        <p:nvPicPr>
          <p:cNvPr id="4" name="Picture 3" descr="07_choose_k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766560" cy="233753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52360" y="1554480"/>
          <a:ext cx="4297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51560"/>
                <a:gridCol w="1325880"/>
                <a:gridCol w="141732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Silhouette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Stability (ARI, 5 seeds)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Agreement with Ward (ARI)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0.219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0.245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0.272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52360" y="3749039"/>
            <a:ext cx="429768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0">
                <a:solidFill>
                  <a:srgbClr val="1A1A1A"/>
                </a:solidFill>
                <a:latin typeface="Calibri"/>
              </a:rPr>
              <a:t>After merging, the misleading k = 2 peak disappears (0.67 → 0.21).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0">
                <a:solidFill>
                  <a:srgbClr val="1A1A1A"/>
                </a:solidFill>
                <a:latin typeface="Calibri"/>
              </a:rPr>
              <a:t>k = 6 is best on all three: silhouette, stability across random starts, and agreement with Ward hierarchical clustering (5,000-user sample).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0">
                <a:solidFill>
                  <a:srgbClr val="1A1A1A"/>
                </a:solidFill>
                <a:latin typeface="Calibri"/>
              </a:rPr>
              <a:t>Silhouettes ≈ 0.27 are modest → real groups, but soft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667512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A5A55"/>
                </a:solidFill>
                <a:latin typeface="Calibri"/>
              </a:rPr>
              <a:t>Silhouette </a:t>
            </a:r>
            <a:r>
              <a:rPr sz="1300" b="0">
                <a:solidFill>
                  <a:srgbClr val="5A5A55"/>
                </a:solidFill>
                <a:latin typeface="Calibri"/>
              </a:rPr>
              <a:t>s = (b − a) / max(a, b): a = mean distance to own cluster, b = to the nearest other cluster. </a:t>
            </a:r>
            <a:r>
              <a:rPr sz="1300" b="1">
                <a:solidFill>
                  <a:srgbClr val="5A5A55"/>
                </a:solidFill>
                <a:latin typeface="Calibri"/>
              </a:rPr>
              <a:t>ARI </a:t>
            </a:r>
            <a:r>
              <a:rPr sz="1300" b="0">
                <a:solidFill>
                  <a:srgbClr val="5A5A55"/>
                </a:solidFill>
                <a:latin typeface="Calibri"/>
              </a:rPr>
              <a:t>= chance-corrected Rand index: 1 = identical clusterings, 0 = random agreement.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Q1: validation with Ward hierarchical clustering</a:t>
            </a:r>
          </a:p>
        </p:txBody>
      </p:sp>
      <p:pic>
        <p:nvPicPr>
          <p:cNvPr id="3" name="Picture 2" descr="08_ward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2044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0">
                <a:solidFill>
                  <a:srgbClr val="1A1A1A"/>
                </a:solidFill>
                <a:latin typeface="Calibri"/>
              </a:rPr>
              <a:t>Ward merges the two clusters whose union increases the within-cluster SSE least — same objective as k-means, but bottom-up and deterministic. Needs all pairwise distances (O(n²)) → run on a 5,000-user sample.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0">
                <a:solidFill>
                  <a:srgbClr val="1A1A1A"/>
                </a:solidFill>
                <a:latin typeface="Calibri"/>
              </a:rPr>
              <a:t>Agreement with k-means is moderate (ARI 0.54 at k = 6): the distinct groups are found by both; boundaries between the large automated groups depend on the algorithm.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Q1 result: six user archetypes</a:t>
            </a:r>
          </a:p>
        </p:txBody>
      </p:sp>
      <p:pic>
        <p:nvPicPr>
          <p:cNvPr id="3" name="Picture 2" descr="09_cluster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223760" cy="260055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63840" y="1188720"/>
          <a:ext cx="39776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731520"/>
                <a:gridCol w="6400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Archetype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Silh.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Low-activity automated posters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48.9%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Cross-posting broadcasters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30.0%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Image sharers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Native casual users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Video sharers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Conversationalists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7132320" cy="2743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>
                <a:solidFill>
                  <a:srgbClr val="1A1A1A"/>
                </a:solidFill>
                <a:latin typeface="Calibri"/>
              </a:rPr>
              <a:t>Heatmap: </a:t>
            </a:r>
            <a:r>
              <a:rPr sz="1400" b="0">
                <a:solidFill>
                  <a:srgbClr val="1A1A1A"/>
                </a:solidFill>
                <a:latin typeface="Calibri"/>
              </a:rPr>
              <a:t>mean z-score per feature (red = above average). Each archetype has a clear signature.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>
                <a:solidFill>
                  <a:srgbClr val="1A1A1A"/>
                </a:solidFill>
                <a:latin typeface="Calibri"/>
              </a:rPr>
              <a:t>Broadcasters: </a:t>
            </a:r>
            <a:r>
              <a:rPr sz="1400" b="0">
                <a:solidFill>
                  <a:srgbClr val="1A1A1A"/>
                </a:solidFill>
                <a:latin typeface="Calibri"/>
              </a:rPr>
              <a:t>26 posts, 6 services, 83 followers, never interact — automated content with reach.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>
                <a:solidFill>
                  <a:srgbClr val="1A1A1A"/>
                </a:solidFill>
                <a:latin typeface="Calibri"/>
              </a:rPr>
              <a:t>Media sharers: </a:t>
            </a:r>
            <a:r>
              <a:rPr sz="1400" b="0">
                <a:solidFill>
                  <a:srgbClr val="1A1A1A"/>
                </a:solidFill>
                <a:latin typeface="Calibri"/>
              </a:rPr>
              <a:t>92% image posts / 100% video posts, automated feeds (Flickr, YouTube).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>
                <a:solidFill>
                  <a:srgbClr val="1A1A1A"/>
                </a:solidFill>
                <a:latin typeface="Calibri"/>
              </a:rPr>
              <a:t>Conversationalists: </a:t>
            </a:r>
            <a:r>
              <a:rPr sz="1400" b="0">
                <a:solidFill>
                  <a:srgbClr val="1A1A1A"/>
                </a:solidFill>
                <a:latin typeface="Calibri"/>
              </a:rPr>
              <a:t>the only interacting group (median 148 comments/likes), most followed.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4069080"/>
            <a:ext cx="393192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Silhouette per cluster: video sharers best separated (0.45); broadcasters weakest (0.12) — they overlap with neighbouring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Q1: the archetypes in two dimensions</a:t>
            </a:r>
          </a:p>
        </p:txBody>
      </p:sp>
      <p:pic>
        <p:nvPicPr>
          <p:cNvPr id="3" name="Picture 2" descr="10_pca_clusters_k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22960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15400" y="1371600"/>
            <a:ext cx="2834640" cy="5029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</a:t>
            </a:r>
            <a:r>
              <a:rPr sz="1300" b="0">
                <a:solidFill>
                  <a:srgbClr val="1A1A1A"/>
                </a:solidFill>
                <a:latin typeface="Calibri"/>
              </a:rPr>
              <a:t>PCA projection: PC1 27% + PC2 18% = 45% of the variance (55% not shown).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</a:t>
            </a:r>
            <a:r>
              <a:rPr sz="1300" b="0">
                <a:solidFill>
                  <a:srgbClr val="1A1A1A"/>
                </a:solidFill>
                <a:latin typeface="Calibri"/>
              </a:rPr>
              <a:t>Conversationalists separate clearly.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</a:t>
            </a:r>
            <a:r>
              <a:rPr sz="1300" b="0">
                <a:solidFill>
                  <a:srgbClr val="1A1A1A"/>
                </a:solidFill>
                <a:latin typeface="Calibri"/>
              </a:rPr>
              <a:t>Automated groups lie close together and overlap in 2D — consistent with the modest silhouettes.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</a:t>
            </a:r>
            <a:r>
              <a:rPr sz="1300" b="0">
                <a:solidFill>
                  <a:srgbClr val="1A1A1A"/>
                </a:solidFill>
                <a:latin typeface="Calibri"/>
              </a:rPr>
              <a:t>Used for visualisation only; clustering used all 10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Q2: transactions and the choice of minimum support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2402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Cambria"/>
              </a:rPr>
              <a:t>305,991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users with ≥ 1 linked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18872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7872" y="1280160"/>
            <a:ext cx="22402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Cambria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182880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link only one → excluded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18872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280160"/>
            <a:ext cx="22402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Cambria"/>
              </a:rPr>
              <a:t>198,824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82880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baskets mined (median 4 services)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118872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0576" y="1280160"/>
            <a:ext cx="22402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Cambria"/>
              </a:rP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576" y="182880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of baskets contain Twitter</a:t>
            </a:r>
          </a:p>
        </p:txBody>
      </p:sp>
      <p:pic>
        <p:nvPicPr>
          <p:cNvPr id="15" name="Picture 14" descr="12_minsup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6040"/>
            <a:ext cx="5760720" cy="2880360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92240" y="2697480"/>
          <a:ext cx="43891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280160"/>
                <a:gridCol w="1097280"/>
                <a:gridCol w="100584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minsup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min. users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itemsets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39,764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19,882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9,941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348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721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5,964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754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1,631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3,976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1,283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2,813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92240" y="4800600"/>
            <a:ext cx="530352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</a:t>
            </a:r>
            <a:r>
              <a:rPr sz="1300" b="1">
                <a:solidFill>
                  <a:srgbClr val="1A1A1A"/>
                </a:solidFill>
                <a:latin typeface="Calibri"/>
              </a:rPr>
              <a:t>minsup = 5%: </a:t>
            </a:r>
            <a:r>
              <a:rPr sz="1300" b="0">
                <a:solidFill>
                  <a:srgbClr val="1A1A1A"/>
                </a:solidFill>
                <a:latin typeface="Calibri"/>
              </a:rPr>
              <a:t>every rule backed by ≥ 9,941 users; includes the bookmarking services; itemsets and rules roughly double with each halving of minsup.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</a:t>
            </a:r>
            <a:r>
              <a:rPr sz="1300" b="1">
                <a:solidFill>
                  <a:srgbClr val="1A1A1A"/>
                </a:solidFill>
                <a:latin typeface="Calibri"/>
              </a:rPr>
              <a:t>Limitation: </a:t>
            </a:r>
            <a:r>
              <a:rPr sz="1300" b="0">
                <a:solidFill>
                  <a:srgbClr val="1A1A1A"/>
                </a:solidFill>
                <a:latin typeface="Calibri"/>
              </a:rPr>
              <a:t>42 of 60 services are below 5% and can never appear (rare-item problem).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Q2: frequent, closed and maximal itemsets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154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Cambria"/>
              </a:rPr>
              <a:t>348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154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frequent itemsets (Apriori = FP-Growth)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18872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280160"/>
            <a:ext cx="3154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Cambria"/>
              </a:rPr>
              <a:t>348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1828800"/>
            <a:ext cx="3154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closed — no compression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18872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1280160"/>
            <a:ext cx="3154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Cambria"/>
              </a:rPr>
              <a:t>139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9" y="1828800"/>
            <a:ext cx="3154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5"/>
                </a:solidFill>
                <a:latin typeface="Calibri"/>
              </a:rPr>
              <a:t>maximal — 60% fewer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743200"/>
          <a:ext cx="6309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005840"/>
                <a:gridCol w="109728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Most frequent maximal itemsets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{YouTube, blog, Twitter, Flickr}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13.7%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27,285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{Delicious, blog, Twitter, Flickr}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24,947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{Delicious, YouTube, Twitter, Flickr}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22,909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{Delicious, YouTube, blog, Twitter}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10.9%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21,625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223760" y="2743200"/>
            <a:ext cx="4480560" cy="3840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0">
                <a:solidFill>
                  <a:srgbClr val="1A1A1A"/>
                </a:solidFill>
                <a:latin typeface="Calibri"/>
              </a:rPr>
              <a:t>Apriori and FP-Growth return the same 348 itemsets (both exact). With 60 items and short baskets Apriori was even faster here (0.35 s vs 1.5 s).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0">
                <a:solidFill>
                  <a:srgbClr val="1A1A1A"/>
                </a:solidFill>
                <a:latin typeface="Calibri"/>
              </a:rPr>
              <a:t>Closed (no superset with equal support): all 348 — with ~200k baskets supports never tie exactly.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0">
                <a:solidFill>
                  <a:srgbClr val="1A1A1A"/>
                </a:solidFill>
                <a:latin typeface="Calibri"/>
              </a:rPr>
              <a:t>Maximal (no frequent superset): 139 — the border of the frequent itemsets; shows a broad content-sharing bundle: blog + Flickr + YouTube + Delicious + Twitter.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Q2 result: a social-bookmarking bundle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5"/>
                </a:solidFill>
                <a:latin typeface="Calibri"/>
              </a:rPr>
              <a:t>721 rules with confidence ≥ 0.5 and lift &gt; 1, ranked by lift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309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22960"/>
                <a:gridCol w="868680"/>
                <a:gridCol w="685800"/>
                <a:gridCol w="6400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Conf.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{digg, delicious} → {stumbleupon}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0.069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13,810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3.26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{delicious, stumbleupon} → {digg}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0.069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13,810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3.18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{stumbleupon, flickr} → {digg}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10,883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2.94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{digg, flickr} → {youtube, delicious}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12,823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2.93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13_pair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97280"/>
            <a:ext cx="5442857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794760"/>
            <a:ext cx="6309360" cy="2834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>
                <a:solidFill>
                  <a:srgbClr val="1A1A1A"/>
                </a:solidFill>
                <a:latin typeface="Calibri"/>
              </a:rPr>
              <a:t>Reading the top rule: </a:t>
            </a:r>
            <a:r>
              <a:rPr sz="1400" b="0">
                <a:solidFill>
                  <a:srgbClr val="1A1A1A"/>
                </a:solidFill>
                <a:latin typeface="Calibri"/>
              </a:rPr>
              <a:t>13,810 users link all three; 53% of Digg + Delicious users also link StumbleUpon, whose baseline is only 16% → 3.26× more likely.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>
                <a:solidFill>
                  <a:srgbClr val="1A1A1A"/>
                </a:solidFill>
                <a:latin typeface="Calibri"/>
              </a:rPr>
              <a:t>Interpretation: </a:t>
            </a:r>
            <a:r>
              <a:rPr sz="1400" b="0">
                <a:solidFill>
                  <a:srgbClr val="1A1A1A"/>
                </a:solidFill>
                <a:latin typeface="Calibri"/>
              </a:rPr>
              <a:t>Digg, Delicious and StumbleUpon — all link-sharing services — form the strongest bundle (pairwise lift up to 2.7).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</a:t>
            </a:r>
            <a:r>
              <a:rPr sz="1400" b="1">
                <a:solidFill>
                  <a:srgbClr val="1A1A1A"/>
                </a:solidFill>
                <a:latin typeface="Calibri"/>
              </a:rPr>
              <a:t>Twitter </a:t>
            </a:r>
            <a:r>
              <a:rPr sz="1400" b="0">
                <a:solidFill>
                  <a:srgbClr val="1A1A1A"/>
                </a:solidFill>
                <a:latin typeface="Calibri"/>
              </a:rPr>
              <a:t>has lift ≈ 1.0 with everything: it is everywhere, so it carries no association information.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Q2: why lift, not confidence — and are the rules stable?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394960" cy="51206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33B"/>
                </a:solidFill>
                <a:latin typeface="Cambria"/>
              </a:rPr>
              <a:t>The Twitter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493776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{digg, facebook} → {twitter}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confidence 0.93 — looks strong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but support(twitter) = 0.85 → lift = 0.93 / 0.85 ≈ 1.09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Knowing Digg + Facebook raises the chance of Twitter only from 85% to 93%.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A78D6"/>
                </a:solidFill>
                <a:latin typeface="Calibri"/>
              </a:rPr>
              <a:t>Confidence = P(Y | X) ignores how common Y is; lift = P(Y | X) / P(Y) compares with that baseline → rules are ranked by lift.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94960" cy="51206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33B"/>
                </a:solidFill>
                <a:latin typeface="Cambria"/>
              </a:rPr>
              <a:t>Stability on two random halves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93776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Baskets split at random into two halves (~99,400 each), rules mined separately.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722 vs 720 rules — 706 found in both (95.9%); the others sit at the support/confidence thresholds.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Lift values agree almost perfectly: correlation 0.999, max. difference 0.08.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All top-10 rules appear in both halves.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A78D6"/>
                </a:solidFill>
                <a:latin typeface="Calibri"/>
              </a:rPr>
              <a:t>→ the rules are reproducible, not artefacts of particular users.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3520440" cy="5257800"/>
          </a:xfrm>
          <a:prstGeom prst="roundRect">
            <a:avLst>
              <a:gd name="adj" fmla="val 6000"/>
            </a:avLst>
          </a:prstGeom>
          <a:solidFill>
            <a:srgbClr val="22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310896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Q1 — Who are the users?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310896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Six archetypes; ~90% of posting users publish through external tools and never interact.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Genuine conversation is concentrated in ~3% of users, who are also the most followed.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Media feeds (images, videos) form their own automated groups.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Use: flag automated broadcasters/media feeds for moderation; prioritise the conversationalist core in feed curation.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234440"/>
            <a:ext cx="3520440" cy="5257800"/>
          </a:xfrm>
          <a:prstGeom prst="roundRect">
            <a:avLst>
              <a:gd name="adj" fmla="val 6000"/>
            </a:avLst>
          </a:prstGeom>
          <a:solidFill>
            <a:srgbClr val="22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79" y="1417320"/>
            <a:ext cx="310896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Q2 — Which services go together?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2240280"/>
            <a:ext cx="310896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A social-bookmarking bundle: Digg, Delicious, StumbleUpon (lift ≈ 3).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A broad content-sharing bundle: blog, Flickr, YouTube, Delicious with Twitter.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Twitter is universal (85%) — no information (lift ≈ 1).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Use: offer integrations as bundles; target bookmarking users with the related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234440"/>
            <a:ext cx="3520440" cy="5257800"/>
          </a:xfrm>
          <a:prstGeom prst="roundRect">
            <a:avLst>
              <a:gd name="adj" fmla="val 6000"/>
            </a:avLst>
          </a:prstGeom>
          <a:solidFill>
            <a:srgbClr val="22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417320"/>
            <a:ext cx="310896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New hypotheses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240280"/>
            <a:ext cx="310896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Are the cross-posting broadcasters and media feeds bots or humans using tools? (needs labels)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Do conversationalists' posts get discussions because of who they are or what they post?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9DCF5"/>
                </a:solidFill>
                <a:latin typeface="Calibri"/>
              </a:rPr>
              <a:t>• </a:t>
            </a:r>
            <a:r>
              <a:rPr sz="1300" b="0">
                <a:solidFill>
                  <a:srgbClr val="C9DCF5"/>
                </a:solidFill>
                <a:latin typeface="Calibri"/>
              </a:rPr>
              <a:t>Do bookmarking-bundle users belong mainly to the broadcaster archetype?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377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233B"/>
                </a:solidFill>
                <a:latin typeface="Cambria"/>
              </a:rPr>
              <a:t>Soft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Silhouettes 0.12–0.45 and moderate agreement with Ward: archetypes are tendencies, not sharp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9377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233B"/>
                </a:solidFill>
                <a:latin typeface="Cambria"/>
              </a:rPr>
              <a:t>No ground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'Automated' is inferred from posting channels; no labelled bots to validate against.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49377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233B"/>
                </a:solidFill>
                <a:latin typeface="Cambria"/>
              </a:rPr>
              <a:t>Snapshot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49377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Followers, services and users are from mid-October, two weeks after the activity window.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97180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9377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233B"/>
                </a:solidFill>
                <a:latin typeface="Cambria"/>
              </a:rPr>
              <a:t>Missing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49377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48,695 active accounts are absent from users.csv (type unknown) and were excluded.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49377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233B"/>
                </a:solidFill>
                <a:latin typeface="Cambria"/>
              </a:rPr>
              <a:t>Rare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03520"/>
            <a:ext cx="49377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With minsup 5%, 42 of 60 services cannot appear in any rule.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70916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846320"/>
            <a:ext cx="49377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233B"/>
                </a:solidFill>
                <a:latin typeface="Cambria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03520"/>
            <a:ext cx="49377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Text content not analysed; the content → discussion question was dropped (one-person project).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233B"/>
                </a:solidFill>
                <a:latin typeface="Cambria"/>
              </a:rPr>
              <a:t>Examination checklist — where each item is addressed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Checklist item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 / how</a:t>
                      </a:r>
                    </a:p>
                  </a:txBody>
                  <a:tcPr marL="64008" marR="64008" marT="27432" marB="27432">
                    <a:solidFill>
                      <a:srgbClr val="14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Problem in non-technical terms; requires data mining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Slide 2 — two questions; latent groups and combinatorial dependencies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Data representation; attribute types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Slides 3, 5 — user × feature table (ratio, binary); transactions for Q2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Pre-processing motivated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Slides 4–5 — each cleaning step tied to an observed issue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Proximity function; scaling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Euclidean on log(1 + x) + z-score (slide 6); binary baskets for rules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Correlation; dimensionality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Slide 7 — Spearman + PCA diagnostic → merged features; PCA for 2D view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Noise / outliers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Outliers kept as phenomenon of interest; log limits their influence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Hyperparameters tuned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k: silhouette + stability + Ward (slide 8); minsup sensitivity (slide 12)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Train/test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Not applicable (unsupervised); replaced by split-half stability of rules (slide 15)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Sufficient evidence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Rules ≥ 9,941 users; clusters ≥ 6,504 users; stability checks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Results interpreted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Slides 10, 14, 16; limitations slide 17</a:t>
                      </a:r>
                    </a:p>
                  </a:txBody>
                  <a:tcPr marL="64008" marR="64008" marT="27432" marB="27432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